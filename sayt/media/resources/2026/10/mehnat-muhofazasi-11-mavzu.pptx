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Mehnat muhofazasi va texnika xavfsizligi · 11-mavzu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 / 13</a:t>
            </a:r>
          </a:p>
        </p:txBody>
      </p:sp>
      <p:sp>
        <p:nvSpPr>
          <p:cNvPr id="34" name="Round Same Side Corner Rectangle 33"/>
          <p:cNvSpPr/>
          <p:nvPr/>
        </p:nvSpPr>
        <p:spPr>
          <a:xfrm>
            <a:off x="731520" y="777240"/>
            <a:ext cx="3291840" cy="51206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 rot="2700000"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80160" y="2148840"/>
            <a:ext cx="2282342" cy="629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600"/>
              </a:lnSpc>
            </a:pPr>
            <a:r>
              <a:rPr sz="4600" b="1">
                <a:solidFill>
                  <a:srgbClr val="B07D1E"/>
                </a:solidFill>
                <a:latin typeface="Georgia"/>
              </a:rPr>
              <a:t>11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4114800"/>
            <a:ext cx="3043123" cy="267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750"/>
              </a:lnSpc>
            </a:pPr>
            <a:r>
              <a:rPr sz="1400" b="1">
                <a:solidFill>
                  <a:srgbClr val="F4EBDD"/>
                </a:solidFill>
                <a:latin typeface="Segoe UI"/>
              </a:rPr>
              <a:t>MAVZU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434840"/>
            <a:ext cx="3043123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25"/>
              </a:lnSpc>
            </a:pPr>
            <a:r>
              <a:rPr sz="1300" b="0">
                <a:solidFill>
                  <a:srgbClr val="F4EBDD"/>
                </a:solidFill>
                <a:latin typeface="Segoe UI"/>
              </a:rPr>
              <a:t>Nazariy · 2 soat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1097280"/>
            <a:ext cx="716370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B07D1E"/>
                </a:solidFill>
                <a:latin typeface="Segoe UI"/>
              </a:rPr>
              <a:t>MEHNAT MUHOFAZASI VA TEXNIKA XAVFSIZLIGI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1532255"/>
            <a:ext cx="7163702" cy="1752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Shaxsiy himoya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vositalarining turlari va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ularni to‘g‘ri tanlash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0" y="3467735"/>
            <a:ext cx="1097280" cy="54864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0" y="3787774"/>
            <a:ext cx="7163702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sz="2000" b="1">
                <a:solidFill>
                  <a:srgbClr val="1B2A4A"/>
                </a:solidFill>
                <a:latin typeface="Segoe UI"/>
              </a:rPr>
              <a:t>Oydin Tashtemirova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4178427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Maxsus fan o‘qituvchisi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4489704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Piskent tumani 1-son texnikumi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Mehnat muhofazasi va texnika xavfsizligi · 11-mavzu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2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11-MAVZU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Mashg‘ulot rejasi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47356" y="2029574"/>
            <a:ext cx="465606" cy="46560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 rot="2700000">
            <a:off x="1047356" y="2029574"/>
            <a:ext cx="465606" cy="46560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207949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28800" y="207949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Shaxsiy himoya vositalari (shhv) tushunchasi va tasnifi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310819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47356" y="3492614"/>
            <a:ext cx="465606" cy="46560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 rot="2700000">
            <a:off x="1047356" y="3492614"/>
            <a:ext cx="465606" cy="46560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5840" y="354253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28800" y="354253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Kompyuter va aqliy mehnatda qo‘llaniladigan shhv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57123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47356" y="4955654"/>
            <a:ext cx="465606" cy="46560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 rot="2700000">
            <a:off x="1047356" y="4955654"/>
            <a:ext cx="465606" cy="46560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05840" y="500557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28800" y="500557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Ish turiga mos shhv tanlash mezonlari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Mehnat muhofazasi va texnika xavfsizligi · 11-mavzu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3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11-MAVZU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Maqsad va kutilayotgan natija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5181447" cy="8229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B07D1E"/>
                </a:solidFill>
                <a:latin typeface="Segoe UI"/>
              </a:rPr>
              <a:t>MAQSAD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" y="2376678"/>
            <a:ext cx="4723022" cy="3166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O‘quvchilarga shaxsiy himoya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vositalari tushunchasi, ularning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tasnifi, kompyuter grafikasi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sohasida qo‘llaniladigan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himoya vositalari va ularni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to‘g‘ri tanlash yuzasidan bilim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va ko‘nikmalar berish.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78727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78727" y="1645158"/>
            <a:ext cx="5181447" cy="82296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98767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B9862A"/>
                </a:solidFill>
                <a:latin typeface="Segoe UI"/>
              </a:rPr>
              <a:t>KUTILAYOTGAN NATIJA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98767" y="2376678"/>
            <a:ext cx="4723022" cy="22745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SHHVni himoya qilinadigan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a’zo bo‘yicha tasniflaydilar,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kompyuter grafikasi sohasidagi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xavflarga mos himoya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vositalarini tanlay oladilar.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Mehnat muhofazasi va texnika xavfsizligi · 11-mavzu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4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1-REJA · SHAXSIY HIMOYA VOSITALARI (SHHV) TUSHUNCHASI VA TASNIFI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Himoya vositalari tizimi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8562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Xodimni xavfli omillardan himoya qilishda avvalo xavfning o‘zini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yo‘qotishga yoki kamaytirishga harakat qilinadi: soz jihoz, yerga ulash,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ventilyatsiya, to‘siqlar. Bular jamoaviy himoya vositalari (JHV) bo‘lib, bir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vaqtning o‘zida ko‘pchilikni himoya qiladi.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Mehnat muhofazasi va texnika xavfsizligi · 11-mavzu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5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1-REJA · SHAXSIY HIMOYA VOSITALARI (SHHV) TUSHUNCHASI VA TASNIFI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Himoyalanish ierarxiyasi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7005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67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Demak, SHHV xavfni yo‘q qilmaydi, balki uning inson tanasiga ta’sirini to‘sadi. Shu sababli u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boshqa choralar o‘rnini bosa olmaydi.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501138"/>
          <a:ext cx="10728654" cy="33832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40797"/>
                <a:gridCol w="4388995"/>
                <a:gridCol w="3998862"/>
              </a:tblGrid>
              <a:tr h="468629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F4EBDD"/>
                          </a:solidFill>
                          <a:latin typeface="Segoe UI"/>
                        </a:rPr>
                        <a:t>Daraja</a:t>
                      </a:r>
                    </a:p>
                  </a:txBody>
                  <a:tcPr marL="109728" marR="109728" marT="73152" marB="73152">
                    <a:solidFill>
                      <a:srgbClr val="B07D1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F4EBDD"/>
                          </a:solidFill>
                          <a:latin typeface="Segoe UI"/>
                        </a:rPr>
                        <a:t>Mazmuni</a:t>
                      </a:r>
                    </a:p>
                  </a:txBody>
                  <a:tcPr marL="109728" marR="109728" marT="73152" marB="73152">
                    <a:solidFill>
                      <a:srgbClr val="B07D1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F4EBDD"/>
                          </a:solidFill>
                          <a:latin typeface="Segoe UI"/>
                        </a:rPr>
                        <a:t>Misol</a:t>
                      </a:r>
                    </a:p>
                  </a:txBody>
                  <a:tcPr marL="109728" marR="109728" marT="73152" marB="73152">
                    <a:solidFill>
                      <a:srgbClr val="B07D1E"/>
                    </a:solidFill>
                  </a:tcPr>
                </a:tc>
              </a:tr>
              <a:tr h="468629"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A4A"/>
                          </a:solidFill>
                          <a:latin typeface="Segoe UI"/>
                        </a:rPr>
                        <a:t>1. Xavfni yo‘qotish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A4A"/>
                          </a:solidFill>
                          <a:latin typeface="Segoe UI"/>
                        </a:rPr>
                        <a:t>Xavf manbaini butunlay olib tashlash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A4A"/>
                          </a:solidFill>
                          <a:latin typeface="Segoe UI"/>
                        </a:rPr>
                        <a:t>Nosoz kabelni almashtirish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754380"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A4A"/>
                          </a:solidFill>
                          <a:latin typeface="Segoe UI"/>
                        </a:rPr>
                        <a:t>2. Almashtirish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A4A"/>
                          </a:solidFill>
                          <a:latin typeface="Segoe UI"/>
                        </a:rPr>
                        <a:t>Xavfli usulni xavfsizrog‘i bilan almashtirish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A4A"/>
                          </a:solidFill>
                          <a:latin typeface="Segoe UI"/>
                        </a:rPr>
                        <a:t>Lazer printer o‘rniga kam changli printer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754380"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A4A"/>
                          </a:solidFill>
                          <a:latin typeface="Segoe UI"/>
                        </a:rPr>
                        <a:t>3. Muhandislik choralari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A4A"/>
                          </a:solidFill>
                          <a:latin typeface="Segoe UI"/>
                        </a:rPr>
                        <a:t>Jamoaviy himoya vositalari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A4A"/>
                          </a:solidFill>
                          <a:latin typeface="Segoe UI"/>
                        </a:rPr>
                        <a:t>Ventilyatsiya, yerga ulash, UZO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68629"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A4A"/>
                          </a:solidFill>
                          <a:latin typeface="Segoe UI"/>
                        </a:rPr>
                        <a:t>4. Tashkiliy choralar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A4A"/>
                          </a:solidFill>
                          <a:latin typeface="Segoe UI"/>
                        </a:rPr>
                        <a:t>Yo‘riqnoma, ish rejimi, belgilar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A4A"/>
                          </a:solidFill>
                          <a:latin typeface="Segoe UI"/>
                        </a:rPr>
                        <a:t>Tanaffuslar, ogohlantiruvchi plakatlar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68629"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A4A"/>
                          </a:solidFill>
                          <a:latin typeface="Segoe UI"/>
                        </a:rPr>
                        <a:t>5. SHHV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A4A"/>
                          </a:solidFill>
                          <a:latin typeface="Segoe UI"/>
                        </a:rPr>
                        <a:t>Shaxsiy himoya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A4A"/>
                          </a:solidFill>
                          <a:latin typeface="Segoe UI"/>
                        </a:rPr>
                        <a:t>Ko‘zoynak, quloqchin, qo‘lqop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Mehnat muhofazasi va texnika xavfsizligi · 11-mavzu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6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2-REJA · KOMPYUTER VA AQLIY MEHNATDA QO‘LLANILADIGAN SHHV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SHHV tasnifi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38684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3594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Himoya qilinadigan a’zoga ko‘ra SHHV quyidagi guruhlarga bo‘linadi: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187448"/>
          <a:ext cx="10728654" cy="2907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3577"/>
                <a:gridCol w="7565077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Guruh</a:t>
                      </a:r>
                    </a:p>
                  </a:txBody>
                  <a:tcPr marL="109728" marR="109728" marT="73152" marB="73152">
                    <a:solidFill>
                      <a:srgbClr val="B07D1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Vositalar</a:t>
                      </a:r>
                    </a:p>
                  </a:txBody>
                  <a:tcPr marL="109728" marR="109728" marT="73152" marB="73152">
                    <a:solidFill>
                      <a:srgbClr val="B07D1E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Bosh himoyasi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Kaska, shlem, bosh kiyimi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Ko‘z va yuz himoyasi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Himoya ko‘zoynaklari, yuz qalqonlari, payvandchi niqobi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Nafas a’zolari himoyasi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Respiratorlar, tibbiy niqoblar, protivogazlar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Eshitish himoyasi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Quloqchinlar, quloq tiqinlari (berushi)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Qo‘l himoyasi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Mexanik, kimyoviy, dielektrik va termik qo‘lqoplar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Mehnat muhofazasi va texnika xavfsizligi · 11-mavzu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7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2-REJA · KOMPYUTER VA AQLIY MEHNATDA QO‘LLANILADIGAN SHHV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Kompyuter grafikasi sohasidagi SHHV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3703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800" b="0">
                <a:solidFill>
                  <a:srgbClr val="3A4560"/>
                </a:solidFill>
                <a:latin typeface="Segoe UI"/>
              </a:rPr>
              <a:t>Kompyuterda ishlovchi dizaynerlar uchun kaska yoki respirator kabi og‘ir vositalar odatda talab etilmaydi.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222413"/>
            <a:ext cx="109901" cy="10990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143506"/>
            <a:ext cx="10729862" cy="5984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6"/>
              </a:lnSpc>
            </a:pPr>
            <a:r>
              <a:rPr sz="1700" b="1">
                <a:solidFill>
                  <a:srgbClr val="1B2A4A"/>
                </a:solidFill>
                <a:latin typeface="Segoe UI"/>
              </a:rPr>
              <a:t>Kompyuter ko‘zoynaklari: </a:t>
            </a:r>
            <a:r>
              <a:rPr sz="1700" b="0">
                <a:solidFill>
                  <a:srgbClr val="1B2A4A"/>
                </a:solidFill>
                <a:latin typeface="Segoe UI"/>
              </a:rPr>
              <a:t>aks ettirishga qarshi (antiblik) qoplamali ko‘zoynaklar ko‘z toliqishini</a:t>
            </a:r>
            <a:br/>
            <a:r>
              <a:rPr sz="1700" b="0">
                <a:solidFill>
                  <a:srgbClr val="1B2A4A"/>
                </a:solidFill>
                <a:latin typeface="Segoe UI"/>
              </a:rPr>
              <a:t>kamaytirishga yordam beradi.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2921421"/>
            <a:ext cx="109901" cy="10990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2842514"/>
            <a:ext cx="10729862" cy="5984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6"/>
              </a:lnSpc>
            </a:pPr>
            <a:r>
              <a:rPr sz="1700" b="1">
                <a:solidFill>
                  <a:srgbClr val="1B2A4A"/>
                </a:solidFill>
                <a:latin typeface="Segoe UI"/>
              </a:rPr>
              <a:t>Ergonomik vositalar: </a:t>
            </a:r>
            <a:r>
              <a:rPr sz="1700" b="0">
                <a:solidFill>
                  <a:srgbClr val="1B2A4A"/>
                </a:solidFill>
                <a:latin typeface="Segoe UI"/>
              </a:rPr>
              <a:t>bilak tayanchli sichqoncha gilamchasi, vertikal sichqoncha, oyoq tagligi. Ular tunnel</a:t>
            </a:r>
            <a:br/>
            <a:r>
              <a:rPr sz="1700" b="0">
                <a:solidFill>
                  <a:srgbClr val="1B2A4A"/>
                </a:solidFill>
                <a:latin typeface="Segoe UI"/>
              </a:rPr>
              <a:t>sindromi va charchoqning oldini oladi.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3620429"/>
            <a:ext cx="109901" cy="10990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3541522"/>
            <a:ext cx="10729862" cy="322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6"/>
              </a:lnSpc>
            </a:pPr>
            <a:r>
              <a:rPr sz="1700" b="1">
                <a:solidFill>
                  <a:srgbClr val="1B2A4A"/>
                </a:solidFill>
                <a:latin typeface="Segoe UI"/>
              </a:rPr>
              <a:t>Quloqchinlar: </a:t>
            </a:r>
            <a:r>
              <a:rPr sz="1700" b="0">
                <a:solidFill>
                  <a:srgbClr val="1B2A4A"/>
                </a:solidFill>
                <a:latin typeface="Segoe UI"/>
              </a:rPr>
              <a:t>shovqinli printer, plotter va server xonalarida ishlaganda.</a:t>
            </a:r>
          </a:p>
        </p:txBody>
      </p:sp>
      <p:sp>
        <p:nvSpPr>
          <p:cNvPr id="45" name="Rectangle 44"/>
          <p:cNvSpPr/>
          <p:nvPr/>
        </p:nvSpPr>
        <p:spPr>
          <a:xfrm rot="2700000">
            <a:off x="841161" y="4043085"/>
            <a:ext cx="109901" cy="10990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3964178"/>
            <a:ext cx="10729862" cy="5984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6"/>
              </a:lnSpc>
            </a:pPr>
            <a:r>
              <a:rPr sz="1700" b="1">
                <a:solidFill>
                  <a:srgbClr val="1B2A4A"/>
                </a:solidFill>
                <a:latin typeface="Segoe UI"/>
              </a:rPr>
              <a:t>Bir martalik qo‘lqoplar: </a:t>
            </a:r>
            <a:r>
              <a:rPr sz="1700" b="0">
                <a:solidFill>
                  <a:srgbClr val="1B2A4A"/>
                </a:solidFill>
                <a:latin typeface="Segoe UI"/>
              </a:rPr>
              <a:t>kartrij va toner bilan ishlaganda: toner kukuni teri va nafas yo‘llarini qitiqlashi</a:t>
            </a:r>
            <a:br/>
            <a:r>
              <a:rPr sz="1700" b="0">
                <a:solidFill>
                  <a:srgbClr val="1B2A4A"/>
                </a:solidFill>
                <a:latin typeface="Segoe UI"/>
              </a:rPr>
              <a:t>mumkin.</a:t>
            </a:r>
          </a:p>
        </p:txBody>
      </p:sp>
      <p:sp>
        <p:nvSpPr>
          <p:cNvPr id="47" name="Rectangle 46"/>
          <p:cNvSpPr/>
          <p:nvPr/>
        </p:nvSpPr>
        <p:spPr>
          <a:xfrm rot="2700000">
            <a:off x="841161" y="4742093"/>
            <a:ext cx="109901" cy="10990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43000" y="4663186"/>
            <a:ext cx="10729862" cy="5984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6"/>
              </a:lnSpc>
            </a:pPr>
            <a:r>
              <a:rPr sz="1700" b="1">
                <a:solidFill>
                  <a:srgbClr val="1B2A4A"/>
                </a:solidFill>
                <a:latin typeface="Segoe UI"/>
              </a:rPr>
              <a:t>Antistatik bilakuzuk: </a:t>
            </a:r>
            <a:r>
              <a:rPr sz="1700" b="0">
                <a:solidFill>
                  <a:srgbClr val="1B2A4A"/>
                </a:solidFill>
                <a:latin typeface="Segoe UI"/>
              </a:rPr>
              <a:t>kompyuter ichki qismlari bilan ishlaganda statik zaryad elektron komponentlarni</a:t>
            </a:r>
            <a:br/>
            <a:r>
              <a:rPr sz="1700" b="0">
                <a:solidFill>
                  <a:srgbClr val="1B2A4A"/>
                </a:solidFill>
                <a:latin typeface="Segoe UI"/>
              </a:rPr>
              <a:t>buzmasligi uchun.</a:t>
            </a:r>
          </a:p>
        </p:txBody>
      </p:sp>
      <p:sp>
        <p:nvSpPr>
          <p:cNvPr id="49" name="Rectangle 48"/>
          <p:cNvSpPr/>
          <p:nvPr/>
        </p:nvSpPr>
        <p:spPr>
          <a:xfrm rot="2700000">
            <a:off x="841161" y="5441101"/>
            <a:ext cx="109901" cy="10990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143000" y="5362194"/>
            <a:ext cx="10729862" cy="322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6"/>
              </a:lnSpc>
            </a:pPr>
            <a:r>
              <a:rPr sz="1700" b="1">
                <a:solidFill>
                  <a:srgbClr val="1B2A4A"/>
                </a:solidFill>
                <a:latin typeface="Segoe UI"/>
              </a:rPr>
              <a:t>Himoya ko‘zoynagi va qo‘lqop: </a:t>
            </a:r>
            <a:r>
              <a:rPr sz="1700" b="0">
                <a:solidFill>
                  <a:srgbClr val="1B2A4A"/>
                </a:solidFill>
                <a:latin typeface="Segoe UI"/>
              </a:rPr>
              <a:t>maket tayyorlashda pichoq, kesuvchi asbob va yelim bilan ishlaganda.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Mehnat muhofazasi va texnika xavfsizligi · 11-mavzu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8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3-REJA · ISH TURIGA MOS SHHV TANLASH MEZONLARI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SHHVni tanlash mezonlari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841161" y="1794931"/>
            <a:ext cx="109901" cy="10990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1645158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Ish joyidagi xavfli omil aniqlanadi (shovqin, chang, tok, mexanik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shikast).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786547"/>
            <a:ext cx="109901" cy="10990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636774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Ana shu omildan himoya qiluvchi vosita turi tanlanadi.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355507"/>
            <a:ext cx="109901" cy="10990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205734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Vosita sertifikatlangan, sifati tasdiqlangan bo‘lishi kerak.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3924467"/>
            <a:ext cx="109901" cy="10990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3774694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O‘lchami foydalanuvchiga mos bo‘lishi — katta yoki kichik vosita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himoya qilmaydi.</a:t>
            </a:r>
          </a:p>
        </p:txBody>
      </p:sp>
      <p:sp>
        <p:nvSpPr>
          <p:cNvPr id="45" name="Rectangle 44"/>
          <p:cNvSpPr/>
          <p:nvPr/>
        </p:nvSpPr>
        <p:spPr>
          <a:xfrm rot="2700000">
            <a:off x="841161" y="4916083"/>
            <a:ext cx="109901" cy="10990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4766310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Qulaylik: </a:t>
            </a:r>
            <a:r>
              <a:rPr sz="2600" b="0">
                <a:solidFill>
                  <a:srgbClr val="1B2A4A"/>
                </a:solidFill>
                <a:latin typeface="Segoe UI"/>
              </a:rPr>
              <a:t>noqulay vositani odam yechib qo‘yadi, natijada himoyasiz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qoladi.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Mehnat muhofazasi va texnika xavfsizligi · 11-mavzu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9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3-REJA · ISH TURIGA MOS SHHV TANLASH MEZONLARI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Xavf va himoya vositasi muvofiqligi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7" name="Table 36"/>
          <p:cNvGraphicFramePr>
            <a:graphicFrameLocks noGrp="1"/>
          </p:cNvGraphicFramePr>
          <p:nvPr/>
        </p:nvGraphicFramePr>
        <p:xfrm>
          <a:off x="731520" y="1645158"/>
          <a:ext cx="10728654" cy="2907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98169"/>
                <a:gridCol w="6530485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Xavfli omil</a:t>
                      </a:r>
                    </a:p>
                  </a:txBody>
                  <a:tcPr marL="109728" marR="109728" marT="73152" marB="73152">
                    <a:solidFill>
                      <a:srgbClr val="B07D1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Mos himoya vositasi</a:t>
                      </a:r>
                    </a:p>
                  </a:txBody>
                  <a:tcPr marL="109728" marR="109728" marT="73152" marB="73152">
                    <a:solidFill>
                      <a:srgbClr val="B07D1E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Statik zaryad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Antistatik bilakuzuk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Toner changi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Bir martalik qo‘lqop, niqob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Yuqori shovqin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Quloqchin yoki quloq tiqini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Kesuvchi asbob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Himoya qo‘lqopi, ko‘zoynak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Elektr kuchlanishi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Dielektrik qo‘lqop, gilamcha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Mehnat muhofazasi va texnika xavfsizligi · 11-mavzu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10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3-REJA · ISH TURIGA MOS SHHV TANLASH MEZONLARI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Ish beruvchining majburiyati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8562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Qonunchilikka ko‘ra ish beruvchi xodimlarni zarur SHHV bilan bepul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ta’minlashi, ularning sozligini va to‘g‘ri ishlatilishini nazorat qilishi shart.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Xodim esa berilgan vositalardan to‘g‘ri foydalanishi va ularni ehtiyot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qilishi kerak.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Mehnat muhofazasi va texnika xavfsizligi · 11-mavzu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11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11-MAVZU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Asosiy atamalar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204307" cy="1310894"/>
          </a:xfrm>
          <a:prstGeom prst="roundRect">
            <a:avLst>
              <a:gd name="adj" fmla="val 5580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73152" cy="1310894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5840" y="1809750"/>
            <a:ext cx="4936991" cy="32321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85"/>
              </a:lnSpc>
            </a:pPr>
            <a:r>
              <a:rPr sz="1900" b="1">
                <a:solidFill>
                  <a:srgbClr val="1B2A4A"/>
                </a:solidFill>
                <a:latin typeface="Georgia"/>
              </a:rPr>
              <a:t>Antistatik bilakuzuk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" y="2178685"/>
            <a:ext cx="4936991" cy="574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80"/>
              </a:lnSpc>
            </a:pPr>
            <a:r>
              <a:rPr sz="1600" b="0">
                <a:solidFill>
                  <a:srgbClr val="3A4560"/>
                </a:solidFill>
                <a:latin typeface="Segoe UI"/>
              </a:rPr>
              <a:t>— kompyuter ichki qismlari bilan ishlaganda statik</a:t>
            </a:r>
            <a:br/>
            <a:r>
              <a:rPr sz="1600" b="0">
                <a:solidFill>
                  <a:srgbClr val="3A4560"/>
                </a:solidFill>
                <a:latin typeface="Segoe UI"/>
              </a:rPr>
              <a:t>zaryad elektron komponentlarni buzmasligi uchun.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55867" y="1645158"/>
            <a:ext cx="5204307" cy="1310894"/>
          </a:xfrm>
          <a:prstGeom prst="roundRect">
            <a:avLst>
              <a:gd name="adj" fmla="val 5580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55867" y="1645158"/>
            <a:ext cx="73152" cy="1310894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30187" y="1809750"/>
            <a:ext cx="4936991" cy="3524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15"/>
              </a:lnSpc>
            </a:pPr>
            <a:r>
              <a:rPr sz="2100" b="1">
                <a:solidFill>
                  <a:srgbClr val="1B2A4A"/>
                </a:solidFill>
                <a:latin typeface="Georgia"/>
              </a:rPr>
              <a:t>Ergonomik vositalar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30187" y="2207895"/>
            <a:ext cx="493699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800" b="0">
                <a:solidFill>
                  <a:srgbClr val="3A4560"/>
                </a:solidFill>
                <a:latin typeface="Segoe UI"/>
              </a:rPr>
              <a:t>— bilak tayanchli sichqoncha gilamchasi,</a:t>
            </a:r>
            <a:br/>
            <a:r>
              <a:rPr sz="1800" b="0">
                <a:solidFill>
                  <a:srgbClr val="3A4560"/>
                </a:solidFill>
                <a:latin typeface="Segoe UI"/>
              </a:rPr>
              <a:t>vertikal sichqoncha, oyoq tagligi.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31520" y="3184652"/>
            <a:ext cx="5204307" cy="1310894"/>
          </a:xfrm>
          <a:prstGeom prst="roundRect">
            <a:avLst>
              <a:gd name="adj" fmla="val 5580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31520" y="3184652"/>
            <a:ext cx="73152" cy="1310894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05840" y="3349244"/>
            <a:ext cx="4936991" cy="3524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15"/>
              </a:lnSpc>
            </a:pPr>
            <a:r>
              <a:rPr sz="2100" b="1">
                <a:solidFill>
                  <a:srgbClr val="1B2A4A"/>
                </a:solidFill>
                <a:latin typeface="Georgia"/>
              </a:rPr>
              <a:t>Himoya ko‘zoynagi va qo‘lqop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05840" y="3747389"/>
            <a:ext cx="493699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800" b="0">
                <a:solidFill>
                  <a:srgbClr val="3A4560"/>
                </a:solidFill>
                <a:latin typeface="Segoe UI"/>
              </a:rPr>
              <a:t>— maket tayyorlashda pichoq, kesuvchi asbob</a:t>
            </a:r>
            <a:br/>
            <a:r>
              <a:rPr sz="1800" b="0">
                <a:solidFill>
                  <a:srgbClr val="3A4560"/>
                </a:solidFill>
                <a:latin typeface="Segoe UI"/>
              </a:rPr>
              <a:t>va yelim bilan ishlaganda.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255867" y="3184652"/>
            <a:ext cx="5204307" cy="1310894"/>
          </a:xfrm>
          <a:prstGeom prst="roundRect">
            <a:avLst>
              <a:gd name="adj" fmla="val 5580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255867" y="3184652"/>
            <a:ext cx="73152" cy="1310894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530187" y="3349244"/>
            <a:ext cx="4936991" cy="3086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70"/>
              </a:lnSpc>
            </a:pPr>
            <a:r>
              <a:rPr sz="1800" b="1">
                <a:solidFill>
                  <a:srgbClr val="1B2A4A"/>
                </a:solidFill>
                <a:latin typeface="Georgia"/>
              </a:rPr>
              <a:t>Kompyuter ko‘zoynaklari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30187" y="3703574"/>
            <a:ext cx="4936991" cy="5410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</a:pPr>
            <a:r>
              <a:rPr sz="1500" b="0">
                <a:solidFill>
                  <a:srgbClr val="3A4560"/>
                </a:solidFill>
                <a:latin typeface="Segoe UI"/>
              </a:rPr>
              <a:t>— aks ettirishga qarshi (antiblik) qoplamali ko‘zoynaklar</a:t>
            </a:r>
            <a:br/>
            <a:r>
              <a:rPr sz="1500" b="0">
                <a:solidFill>
                  <a:srgbClr val="3A4560"/>
                </a:solidFill>
                <a:latin typeface="Segoe UI"/>
              </a:rPr>
              <a:t>ko‘z toliqishini kamaytirishga yordam beradi.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31520" y="4724146"/>
            <a:ext cx="5204307" cy="1310894"/>
          </a:xfrm>
          <a:prstGeom prst="roundRect">
            <a:avLst>
              <a:gd name="adj" fmla="val 5580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31520" y="4724146"/>
            <a:ext cx="73152" cy="1310894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05840" y="4888738"/>
            <a:ext cx="4936991" cy="3524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15"/>
              </a:lnSpc>
            </a:pPr>
            <a:r>
              <a:rPr sz="2100" b="1">
                <a:solidFill>
                  <a:srgbClr val="1B2A4A"/>
                </a:solidFill>
                <a:latin typeface="Georgia"/>
              </a:rPr>
              <a:t>Quloqchinlar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05840" y="5286882"/>
            <a:ext cx="493699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800" b="0">
                <a:solidFill>
                  <a:srgbClr val="3A4560"/>
                </a:solidFill>
                <a:latin typeface="Segoe UI"/>
              </a:rPr>
              <a:t>— shovqinli printer, plotter va server</a:t>
            </a:r>
            <a:br/>
            <a:r>
              <a:rPr sz="1800" b="0">
                <a:solidFill>
                  <a:srgbClr val="3A4560"/>
                </a:solidFill>
                <a:latin typeface="Segoe UI"/>
              </a:rPr>
              <a:t>xonalarida ishlaganda.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Mehnat muhofazasi va texnika xavfsizligi · 11-mavzu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12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11-MAVZU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Mustahkamlash uchun savollar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45283" y="172082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 rot="2700000">
            <a:off x="845283" y="172082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" y="175336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17320" y="1645158"/>
            <a:ext cx="10206825" cy="904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Shaxsiy himoya vositalari nima va ular jamoaviy vositalardan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qanday farq qiladi?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5283" y="276222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 rot="2700000">
            <a:off x="845283" y="276222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6384" y="279476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17320" y="2686558"/>
            <a:ext cx="10206825" cy="904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SHHV himoya qilinadigan a’zoga ko‘ra qanday guruhlarga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bo‘linadi?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5283" y="380362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 rot="2700000">
            <a:off x="845283" y="380362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6384" y="383616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17320" y="372795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Kompyuter dizaynerlari uchun qanday himoya vositalari mavjud?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45283" y="441576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 rot="2700000">
            <a:off x="845283" y="441576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86384" y="444830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417320" y="434009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Antistatik bilakuzuk nima uchun ishlatiladi?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5283" y="502790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 rot="2700000">
            <a:off x="845283" y="502790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86384" y="506044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17320" y="495223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SHHV tanlashda qanday mezonlarga e’tibor beriladi?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Mehnat muhofazasi va texnika xavfsizligi · 11-mavzu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13 / 13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1505" y="1625937"/>
            <a:ext cx="1228684" cy="1228684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 rot="2700000">
            <a:off x="5481505" y="1625937"/>
            <a:ext cx="1228684" cy="1228684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3429000"/>
            <a:ext cx="11157801" cy="680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00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E’tiboringiz uchun rahmat!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251960"/>
            <a:ext cx="11157801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00"/>
              </a:lnSpc>
            </a:pPr>
            <a:r>
              <a:rPr sz="2000" b="0">
                <a:solidFill>
                  <a:srgbClr val="3A4560"/>
                </a:solidFill>
                <a:latin typeface="Segoe UI"/>
              </a:rPr>
              <a:t>Savollaringiz bo‘lsa, marhamat.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4892040"/>
            <a:ext cx="11157801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1600" b="1">
                <a:solidFill>
                  <a:srgbClr val="B07D1E"/>
                </a:solidFill>
                <a:latin typeface="Segoe UI"/>
              </a:rPr>
              <a:t>Oydin Tashtemirova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11-mavzu. Shaxsiy himoya vositalarining turlari va ularni to‘g‘ri tanlash</dc:title>
  <dc:subject/>
  <dc:creator>Oydin Tashtemirova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