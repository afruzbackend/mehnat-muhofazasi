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15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C2562D"/>
                </a:solidFill>
                <a:latin typeface="Georgia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C2562D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Sanitariya va shaxsiy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gigiyena qoidalariga rioya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qilish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Kompyuter xonasiga qo‘yiladigan sanitariya-gigiyena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talablari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Ish joyining mikroiqlimi: harorat, namlik, havo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almashinuvi va yoritilganlik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Shaxsiy gigiyena, ko‘z gigiyenasi hamda ish va dam olish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rejimi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C2562D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kompyuter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xonasining sanitariya-gigiyena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talablari, ish joyi mikroiqlimi,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shaxsiy gigiyena va ko‘z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gigiyenasi qoidalari yuzasidan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bilim 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Kompyuter xonasida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sanitariya-gigiyena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me’yorlariga rioya qiladilar, 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joyini gigiyenik talablarga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muvofiq tashkil eta oladilar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shaxsiy gigiyena qoidalarini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amalda qo‘llaydilar.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KOMPYUTER XONASIGA QO‘YILADIGAN SANITARIYA-GIGIYENA TALABLARI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Sanitariya va gigiyena tushunchalari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Gigiyena — tashqi muhit va mehnat sharoitlarining inson salomatligiga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ta’sirini o‘rganuvchi, sog‘liqni saqlash va kasalliklarning oldini olish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qoidalarini ishlab chiquvchi fan.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33340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18363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 grafikasi va dizayn yo‘nalishi o‘quvchilari kunining katta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qismini monitor qarshisida, bir joyda o‘tirib o‘tkazadi.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KOMPYUTER XONASIGA QO‘YILADIGAN SANITARIYA-GIGIYENA TALABLARI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Kompyuter xonasiga qo‘yiladigan talablar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7918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Maydon: </a:t>
            </a:r>
            <a:r>
              <a:rPr sz="2400" b="0">
                <a:solidFill>
                  <a:srgbClr val="1B2A4A"/>
                </a:solidFill>
                <a:latin typeface="Segoe UI"/>
              </a:rPr>
              <a:t>har bir kompyuterli ish joyiga kamida 6 m² maydon to‘g‘ri kelishi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tavsiya etiladi.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05775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71750"/>
            <a:ext cx="10729862" cy="1216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Joylashuv: </a:t>
            </a:r>
            <a:r>
              <a:rPr sz="2400" b="0">
                <a:solidFill>
                  <a:srgbClr val="1B2A4A"/>
                </a:solidFill>
                <a:latin typeface="Segoe UI"/>
              </a:rPr>
              <a:t>kompyuterlar orasidagi masofa yon tomondan kamida 1,2 m, bir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monitorning orqa tomonidan ikkinchisining ekranigacha kamida 2 m bo‘lishi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kerak.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402251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888486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Pardoz: </a:t>
            </a:r>
            <a:r>
              <a:rPr sz="2400" b="0">
                <a:solidFill>
                  <a:srgbClr val="1B2A4A"/>
                </a:solidFill>
                <a:latin typeface="Segoe UI"/>
              </a:rPr>
              <a:t>devor va shiftlar yaltiramaydigan (matli), och rangdagi materiallar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bilan qoplanadi; pol tekis, sirpanmaydigan va antistatik bo‘lishi kerak.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94910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81507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Jihozlar: </a:t>
            </a:r>
            <a:r>
              <a:rPr sz="2400" b="0">
                <a:solidFill>
                  <a:srgbClr val="1B2A4A"/>
                </a:solidFill>
                <a:latin typeface="Segoe UI"/>
              </a:rPr>
              <a:t>stul balandligi va suyanchig‘i sozlanadigan, stol yuzasi monitor,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klaviatura va grafik planshetni erkin joylashtirishga yetarli bo‘lishi lozim.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1-REJA · KOMPYUTER XONASIGA QO‘YILADIGAN SANITARIYA-GIGIYENA TALABLARI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Xonani tozalash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5189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49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1-rasm.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44186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92096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Har kunlik tozalash: </a:t>
            </a:r>
            <a:r>
              <a:rPr sz="2600" b="0">
                <a:solidFill>
                  <a:srgbClr val="1B2A4A"/>
                </a:solidFill>
                <a:latin typeface="Segoe UI"/>
              </a:rPr>
              <a:t>har bir o‘quv kuni yakunida xona nam usulda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tozalanadi va shamollatiladi. Chang elektronika ichida qizishni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kuchaytiradi va allergiya qo‘zg‘atadi.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85614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70636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Davriy tozalash: </a:t>
            </a:r>
            <a:r>
              <a:rPr sz="2600" b="0">
                <a:solidFill>
                  <a:srgbClr val="1B2A4A"/>
                </a:solidFill>
                <a:latin typeface="Segoe UI"/>
              </a:rPr>
              <a:t>oyiga kamida bir marta dezinfeksiyalovchi vositalar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yordamida umumiy tozalash (sanitariya kuni) o‘tkaziladi.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84775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69798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Jihozlarni tozalash: </a:t>
            </a:r>
            <a:r>
              <a:rPr sz="2600" b="0">
                <a:solidFill>
                  <a:srgbClr val="1B2A4A"/>
                </a:solidFill>
                <a:latin typeface="Segoe UI"/>
              </a:rPr>
              <a:t>monitor, klaviatura va sichqoncha faqat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o‘chirilgan holatda, maxsus salfetkalar bilan artiladi.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ISH JOYINING MIKROIQLIMI: HARORAT, NAMLIK, HAVO ALMASHINUVI VA YORITILGANLIK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Mikroiqlim va uning ko‘rsatkichlari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Mikroiqlim — xona ichidagi havo harorati, nisbiy namligi, havo harakati tezligi va issiqlik nurlanishi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majmui.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826"/>
                <a:gridCol w="4214828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Ko‘rsatkich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Me’yoriy talab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Havo harorati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19–22 °C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Nisbiy namlik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40–60 %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Havo harakati tezligi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0,1 m/s dan oshmasligi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Ish stoli yuzasidagi yoritilganlik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300–500 lk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Shovqin darajasi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50 dBA dan oshmasligi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ISH JOYINING MIKROIQLIMI: HARORAT, NAMLIK, HAVO ALMASHINUVI VA YORITILGANLIK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Yoritilganlik talablari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Tabiiy yorug‘lik: </a:t>
            </a:r>
            <a:r>
              <a:rPr sz="2600" b="0">
                <a:solidFill>
                  <a:srgbClr val="1B2A4A"/>
                </a:solidFill>
                <a:latin typeface="Segoe UI"/>
              </a:rPr>
              <a:t>monitorga yon tomondan (asosan chap tomondan)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tushishi kerak. Derazalar jalyuzi yoki parda bilan jihozlanadi.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Sun’iy yoritish: </a:t>
            </a:r>
            <a:r>
              <a:rPr sz="2600" b="0">
                <a:solidFill>
                  <a:srgbClr val="1B2A4A"/>
                </a:solidFill>
                <a:latin typeface="Segoe UI"/>
              </a:rPr>
              <a:t>sifatida bir tekis yorug‘lik beruvchi LED yoki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lyuminessent yoritgichlar qo‘llanadi.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Blik (yaltirash): </a:t>
            </a:r>
            <a:r>
              <a:rPr sz="2600" b="0">
                <a:solidFill>
                  <a:srgbClr val="1B2A4A"/>
                </a:solidFill>
                <a:latin typeface="Segoe UI"/>
              </a:rPr>
              <a:t>monitor ekranida deraza yoki chiroqdan aks paydo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bo‘lmasligi lozim, chunki u ko‘zni qo‘shimcha zo‘riqtiradi.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76977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620006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Rang bilan ishlash: </a:t>
            </a:r>
            <a:r>
              <a:rPr sz="2600" b="0">
                <a:solidFill>
                  <a:srgbClr val="1B2A4A"/>
                </a:solidFill>
                <a:latin typeface="Segoe UI"/>
              </a:rPr>
              <a:t>grafik dizaynerlar uchun yorug‘lik rangi neytral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(taxminan 5000–6500 K) bo‘lgani ma’qul, aks holda ekrandagi ranglar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noto‘g‘ri qabul qilinadi.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2-REJA · ISH JOYINING MIKROIQLIMI: HARORAT, NAMLIK, HAVO ALMASHINUVI VA YORITILGANLIK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Ko‘z gigiyenasi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Monitor bilan ko‘z o‘rtasidagi masofa 50–70 sm bo‘lishi, ekranning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yuqori cheti ko‘z darajasida yoki undan biroz pastda joylashishi kerak.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Ekran yorqinligi xona yorug‘ligiga moslab sozlanadi: qorong‘i xonada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yorqin ekranga qarash ko‘zni tez charchatadi.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77917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629406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Ko‘zni asrashning oddiy va samarali usuli — «20-20-20» qoidasi: har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20 daqiqada 20 soniya davomida kamida 6 metr uzoqlikdagi narsaga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qarash.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SHAXSIY GIGIYENA, KO‘Z GIGIYENASI HAMDA ISH VA DAM OLISH REJIMI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Shaxsiy gigiyenaning asosiy elementlari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Qo‘l gigiyenasi: </a:t>
            </a:r>
            <a:r>
              <a:rPr sz="2600" b="0">
                <a:solidFill>
                  <a:srgbClr val="1B2A4A"/>
                </a:solidFill>
                <a:latin typeface="Segoe UI"/>
              </a:rPr>
              <a:t>ish boshlashdan oldin, tanaffusdan keyin va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ovqatlanishdan avval qo‘llarni sovun bilan yuvish.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Kiyim-kechak: </a:t>
            </a:r>
            <a:r>
              <a:rPr sz="2600" b="0">
                <a:solidFill>
                  <a:srgbClr val="1B2A4A"/>
                </a:solidFill>
                <a:latin typeface="Segoe UI"/>
              </a:rPr>
              <a:t>toza, harakatni cheklamaydigan, mavsumga mos kiyim;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uzun sochlarni yig‘ib yurish.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Ish joyi gigiyenasi: </a:t>
            </a:r>
            <a:r>
              <a:rPr sz="2600" b="0">
                <a:solidFill>
                  <a:srgbClr val="1B2A4A"/>
                </a:solidFill>
                <a:latin typeface="Segoe UI"/>
              </a:rPr>
              <a:t>ish joyida ovqatlanmaslik va ichimlik ichmaslik;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klaviatura, sichqoncha va grafik planshetni muntazam artib turish.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769779"/>
            <a:ext cx="109901" cy="10990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62000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Kunlik rejim: </a:t>
            </a:r>
            <a:r>
              <a:rPr sz="2600" b="0">
                <a:solidFill>
                  <a:srgbClr val="1B2A4A"/>
                </a:solidFill>
                <a:latin typeface="Segoe UI"/>
              </a:rPr>
              <a:t>yetarli uyqu (7–8 soat), muntazam ovqatlanish, jismoniy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faollik va toza havoda yurish.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SHAXSIY GIGIYENA, KO‘Z GIGIYENASI HAMDA ISH VA DAM OLISH REJIMI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 va dam olish rejimi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0142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86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Har 40–45 daqiqalik uzluksiz ishdan keyin 10 daqiqalik tanaffus qilish tavsiya etiladi. Tanaffusda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o‘rindan turib yurish, deraza orqali uzoqqa qarash va kompensator mashqlarni bajarish kerak.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Tanaffusni telefon ekraniga qarab o‘tkazish ko‘zga dam bermaydi.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81482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4389"/>
                <a:gridCol w="8204265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Mashq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Bajarilishi</a:t>
                      </a:r>
                    </a:p>
                  </a:txBody>
                  <a:tcPr marL="109728" marR="109728" marT="73152" marB="73152">
                    <a:solidFill>
                      <a:srgbClr val="C2562D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Bo‘yin uchun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Boshni sekin o‘ngga, chapga burish va oldinga egish (5–6 marta)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Yelka uchun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Yelkalarni ko‘tarib-tushirish va aylantirish (8–10 marta)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Qo‘l panjalari uchun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Barmoqlarni musht qilib-ochish, bilakni aylantirish (10 marta)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Ko‘z uchun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«20-20-20» qoidasi, yaqin-uzoqqa qarash (5–6 marta)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Bel uchun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Tik turib, qo‘llarni tepaga cho‘zish va yonga egilish (5–6 marta)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3-REJA · SHAXSIY GIGIYENA, KO‘Z GIGIYENASI HAMDA ISH VA DAM OLISH REJIMI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Sanitariya qoidalari buzilishining oqibatlari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Sanitariya-gigiyena qoidalariga rioya qilmaslik vaqt o‘tishi bilan kasb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kasalliklariga olib keladi: kompyuter ko‘rish sindromi (ko‘z quruqligi,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xira ko‘rish), osteoxondroz va skolioz, karpal tunnel sindromi, surunkali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charchoq.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208064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Gigiyena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Tashqi muhit va mehnat sharoitlarining inson salomatligiga ta’sirini o‘rganuvchi, sog‘liqni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saqlash va kasalliklarning oldini olish qoidalarini…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954398"/>
            <a:ext cx="10728655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954398"/>
            <a:ext cx="73152" cy="2080641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411899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Mikroiqlim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53174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Xona ichidagi havo harorati, nisbiy namligi, havo harakati tezligi va issiqlik nurlanishi majmui.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C2562D"/>
                </a:solidFill>
                <a:latin typeface="Segoe UI"/>
              </a:rPr>
              <a:t>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 xonasida maqbul havo harorati va nisbiy namlik qancha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bo‘lishi kerak?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76222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76222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7947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6865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Monitordan ko‘zgacha bo‘lgan masofa qancha bo‘lishi lozim?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337436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337436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34069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32986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«20-20-20» qoidasining mazmunini tushuntiring.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9865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9865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0190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91083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xona havosining haddan tashqari quruq bo‘lishi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zararli?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50279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5027901"/>
            <a:ext cx="284537" cy="28453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50604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9522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Ish joyida qanday shaxsiy gigiyena qoidalariga amal qilinadi?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15 / 15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C25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C2562D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1-mavzu. Sanitariya va shaxsiy gigiyena qoidalariga rioya qilish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