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14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0E7C7B"/>
                </a:solidFill>
                <a:latin typeface="Georgia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Nazariy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0E7C7B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75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Xavfsiz mehnat usullari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va ularning asosiy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talablari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467735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78777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17842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8970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4-MAVZU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189661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Mehnat muhofazasi bo‘yicha yo‘riqnomalar va ularning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turlari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54253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Ish joyini tashkil etish va tartibni saqlash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500557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O‘quv laboratoriyasida taqiqlangan harakatlar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4-MAVZU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0E7C7B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O‘quvchilarga xavfsiz mehnat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usullari, mehnat muhofazasi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yo‘riqnomalari turlari, ish joyini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to‘g‘ri tashkil etish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laboratoriyada taqiqlangan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harakatlar yuzasidan bilim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ko‘nikmalar 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720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Xavfsiz mehnat usullari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yo‘riqnoma turlarini biladilar,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ish o‘rnini xavfsiz tashkil qila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oladilar hamda laboratoriya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ichki tartib qoidalariga rioya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qiladilar.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1-REJA · MEHNAT MUHOFAZASI BO‘YICHA YO‘RIQNOMALAR VA ULARNING TURLARI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Xavfsiz mehnat usullari tushunchasi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Xavfsiz mehnat usullari — ish jarayonida jarohatlanish, baxtsiz hodisa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va kasb kasalliklarining oldini olishga qaratilgan qoidalar, tartiblar va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to‘g‘ri harakatlar majmuidir.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1-REJA · MEHNAT MUHOFAZASI BO‘YICHA YO‘RIQNOMALAR VA ULARNING TURLARI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Xavfsiz mehnatning asosiy tamoyillari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Bilim: </a:t>
            </a:r>
            <a:r>
              <a:rPr sz="2600" b="0">
                <a:solidFill>
                  <a:srgbClr val="1B2A4A"/>
                </a:solidFill>
                <a:latin typeface="Segoe UI"/>
              </a:rPr>
              <a:t>ishni boshlashdan oldin uning xavflari va xavfsiz bajarish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usullarini bilish.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86547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36774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Tayyorgarlik: </a:t>
            </a:r>
            <a:r>
              <a:rPr sz="2600" b="0">
                <a:solidFill>
                  <a:srgbClr val="1B2A4A"/>
                </a:solidFill>
                <a:latin typeface="Segoe UI"/>
              </a:rPr>
              <a:t>ish joyi, jihozlar va himoya vositalarining sozligini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tekshirish.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778163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628390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Intizom: </a:t>
            </a:r>
            <a:r>
              <a:rPr sz="2600" b="0">
                <a:solidFill>
                  <a:srgbClr val="1B2A4A"/>
                </a:solidFill>
                <a:latin typeface="Segoe UI"/>
              </a:rPr>
              <a:t>belgilangan tartib va ko‘rsatmalarga og‘ishmay amal qilish.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347123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197350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Ehtiyotkorlik: </a:t>
            </a:r>
            <a:r>
              <a:rPr sz="2600" b="0">
                <a:solidFill>
                  <a:srgbClr val="1B2A4A"/>
                </a:solidFill>
                <a:latin typeface="Segoe UI"/>
              </a:rPr>
              <a:t>shoshilmaslik, chalg‘imaslik, charchaganda ishni davom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ettirmaslik.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5338739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18896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Mas’uliyat: </a:t>
            </a:r>
            <a:r>
              <a:rPr sz="2600" b="0">
                <a:solidFill>
                  <a:srgbClr val="1B2A4A"/>
                </a:solidFill>
                <a:latin typeface="Segoe UI"/>
              </a:rPr>
              <a:t>o‘z va atrofdagilar xavfsizligi uchun javobgarlikni his qilish.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1-REJA · MEHNAT MUHOFAZASI BO‘YICHA YO‘RIQNOMALAR VA ULARNING TURLARI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Mehnat muhofazasining huquqiy asosi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Xavfsiz mehnat sharoitlarini yaratish O‘zbekiston Respublikasining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Mehnat kodeksi va «Mehnatni muhofaza qilish to‘g‘risida»gi Qonuni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bilan kafolatlangan.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2-REJA · ISH JOYINI TASHKIL ETISH VA TARTIBNI SAQLASH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Yo‘riqnoma (instruktaj) turlari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Mehnat muhofazasi bo‘yicha bilimlar yo‘riqnomalar orqali beriladi. Har bir yo‘riqnoma maxsus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jurnalda qayd etilib, o‘tkazuvchi va tinglovchi tomonidan imzolanadi.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3" cy="3319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2776"/>
                <a:gridCol w="4706764"/>
                <a:gridCol w="4499113"/>
              </a:tblGrid>
              <a:tr h="6273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4EBDD"/>
                          </a:solidFill>
                          <a:latin typeface="Segoe UI"/>
                        </a:rPr>
                        <a:t>Yo‘riqnoma turi</a:t>
                      </a:r>
                    </a:p>
                  </a:txBody>
                  <a:tcPr marL="109728" marR="109728" marT="73152" marB="73152">
                    <a:solidFill>
                      <a:srgbClr val="0E7C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4EBDD"/>
                          </a:solidFill>
                          <a:latin typeface="Segoe UI"/>
                        </a:rPr>
                        <a:t>Qachon o‘tkaziladi</a:t>
                      </a:r>
                    </a:p>
                  </a:txBody>
                  <a:tcPr marL="109728" marR="109728" marT="73152" marB="73152">
                    <a:solidFill>
                      <a:srgbClr val="0E7C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4EBDD"/>
                          </a:solidFill>
                          <a:latin typeface="Segoe UI"/>
                        </a:rPr>
                        <a:t>Mazmuni</a:t>
                      </a:r>
                    </a:p>
                  </a:txBody>
                  <a:tcPr marL="109728" marR="109728" marT="73152" marB="73152">
                    <a:solidFill>
                      <a:srgbClr val="0E7C7B"/>
                    </a:solidFill>
                  </a:tcPr>
                </a:tc>
              </a:tr>
              <a:tr h="6273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A"/>
                          </a:solidFill>
                          <a:latin typeface="Segoe UI"/>
                        </a:rPr>
                        <a:t>Kirish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A"/>
                          </a:solidFill>
                          <a:latin typeface="Segoe UI"/>
                        </a:rPr>
                        <a:t>Texnikumga qabul qilinganda (bir marta)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A"/>
                          </a:solidFill>
                          <a:latin typeface="Segoe UI"/>
                        </a:rPr>
                        <a:t>Umumiy xavfsizlik qoidalari, bino tuzilishi, evakuatsiya yo‘llari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6273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A"/>
                          </a:solidFill>
                          <a:latin typeface="Segoe UI"/>
                        </a:rPr>
                        <a:t>Ish joyidagi birlamchi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A"/>
                          </a:solidFill>
                          <a:latin typeface="Segoe UI"/>
                        </a:rPr>
                        <a:t>Laboratoriyada amaliy ish boshlanishidan oldin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A"/>
                          </a:solidFill>
                          <a:latin typeface="Segoe UI"/>
                        </a:rPr>
                        <a:t>Aynan shu xonadagi jihozlar va ularning xavflari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0513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A"/>
                          </a:solidFill>
                          <a:latin typeface="Segoe UI"/>
                        </a:rPr>
                        <a:t>Takroriy (davriy)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A"/>
                          </a:solidFill>
                          <a:latin typeface="Segoe UI"/>
                        </a:rPr>
                        <a:t>Kamida 6 oyda bir marta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A"/>
                          </a:solidFill>
                          <a:latin typeface="Segoe UI"/>
                        </a:rPr>
                        <a:t>Bilimlarni yangilash va tekshirish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6273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A"/>
                          </a:solidFill>
                          <a:latin typeface="Segoe UI"/>
                        </a:rPr>
                        <a:t>Navbatdan tashqari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A"/>
                          </a:solidFill>
                          <a:latin typeface="Segoe UI"/>
                        </a:rPr>
                        <a:t>Yangi jihoz, yangi qoida, qoidabuzarlik yoki baxtsiz hodisadan keyin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A"/>
                          </a:solidFill>
                          <a:latin typeface="Segoe UI"/>
                        </a:rPr>
                        <a:t>O‘zgarishlar va xatolar tahlili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0513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A"/>
                          </a:solidFill>
                          <a:latin typeface="Segoe UI"/>
                        </a:rPr>
                        <a:t>Maqsadli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A"/>
                          </a:solidFill>
                          <a:latin typeface="Segoe UI"/>
                        </a:rPr>
                        <a:t>Bir martalik maxsus ishlar oldidan (ekskursiya, tadbir)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A4A"/>
                          </a:solidFill>
                          <a:latin typeface="Segoe UI"/>
                        </a:rPr>
                        <a:t>Muayyan ishning xavfsizlik choralari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2-REJA · ISH JOYINI TASHKIL ETISH VA TARTIBNI SAQLASH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Yo‘riqnoma jurnali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Yo‘riqnomadan o‘tmagan o‘quvchi laboratoriyada ishlashga ruxsat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etilmaydi. Jurnaldagi imzo o‘quvchi qoidalar bilan tanishgani va ularga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rioya qilishga majburiyat olganini bildiradi.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3-REJA · O‘QUV LABORATORIYASIDA TAQIQLANGAN HARAKATLAR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Ish joyini tashkil etish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51892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491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To‘g‘ri tashkil etilgan ish joyi xavfsizlikning yarmidir.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441869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29209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stol ustida ortiqcha buyumlar, sumka va kiyim bo‘lmasligi;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010829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286105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kabellar tartibga solingan, o‘tish yo‘lidan chetda bo‘lishi;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579789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43001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o‘tish yo‘llari va evakuatsiya chiqishlari doimo bo‘sh turishi;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148749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3998976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ish yakunida ish joyini tozalab, qurilmalarni belgilangan tartibda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o‘chirish.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3-REJA · O‘QUV LABORATORIYASIDA TAQIQLANGAN HARAKATLAR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Laboratoriyada taqiqlangan harakatlar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Kompyuter xonasiga oziq-ovqat va ichimliklar olib kirish.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363891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21411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Kabellar ustidan bosish, ularni tortish yoki chigallashtirish.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2932851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278307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Rozetkalarga begona jismlar suqish.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501811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35203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Ruxsatsiz qurilmalarni qismlarga ajratish, korpusni ochish.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070771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392099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O‘qituvchi ruxsatisiz qurilmalarni ulash, o‘chirish yoki joyini o‘zgartirish.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4639731"/>
            <a:ext cx="109901" cy="109901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448995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Xonada yugurish, itarishish va shovqin qilish.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3-REJA · O‘QUV LABORATORIYASIDA TAQIQLANGAN HARAKATLAR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Qoidabuzarlikka munosabat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Qoidabuzarlikni ko‘rgan har bir o‘quvchi bu haqda o‘qituvchiga xabar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berishi kerak. Bu «chaqimchilik» emas, balki o‘rtog‘ining hayoti va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sog‘lig‘i haqida qayg‘urishdir.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4-MAVZU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131089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Bilim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07895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Ishni boshlashdan oldin uning xavflari va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xavfsiz bajarish usullarini bilish.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55867" y="1645158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55867" y="1645158"/>
            <a:ext cx="73152" cy="131089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0187" y="1809750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Ehtiyotkorlik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0187" y="2207895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Shoshilmaslik, chalg‘imaslik, charchaganda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ishni davom ettirmaslik.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3184652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1520" y="3184652"/>
            <a:ext cx="73152" cy="131089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3349244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Intizom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3747389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Belgilangan tartib va ko‘rsatmalarga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og‘ishmay amal qilish.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55867" y="3184652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55867" y="3184652"/>
            <a:ext cx="73152" cy="131089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30187" y="3349244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Mas’uliyat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30187" y="3747389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O‘z va atrofdagilar xavfsizligi uchun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javobgarlikni his qilish.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1520" y="4724146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1520" y="4724146"/>
            <a:ext cx="73152" cy="131089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" y="4888738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Tayyorgarlik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5286882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Ish joyi, jihozlar va himoya vositalarining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sozligini tekshirish.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55867" y="4724146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55867" y="4724146"/>
            <a:ext cx="73152" cy="131089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30187" y="4888738"/>
            <a:ext cx="4936991" cy="294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4"/>
              </a:lnSpc>
            </a:pPr>
            <a:r>
              <a:rPr sz="1700" b="1">
                <a:solidFill>
                  <a:srgbClr val="1B2A4A"/>
                </a:solidFill>
                <a:latin typeface="Georgia"/>
              </a:rPr>
              <a:t>Xavfsiz mehnat usullari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30187" y="5228463"/>
            <a:ext cx="4936991" cy="739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3A4560"/>
                </a:solidFill>
                <a:latin typeface="Segoe UI"/>
              </a:rPr>
              <a:t>Ish jarayonida jarohatlanish, baxtsiz hodisa va kasb</a:t>
            </a:r>
            <a:br/>
            <a:r>
              <a:rPr sz="1400" b="0">
                <a:solidFill>
                  <a:srgbClr val="3A4560"/>
                </a:solidFill>
                <a:latin typeface="Segoe UI"/>
              </a:rPr>
              <a:t>kasalliklarining oldini olishga qaratilgan qoidalar, tartiblar</a:t>
            </a:r>
            <a:br/>
            <a:r>
              <a:rPr sz="1400" b="0">
                <a:solidFill>
                  <a:srgbClr val="3A4560"/>
                </a:solidFill>
                <a:latin typeface="Segoe UI"/>
              </a:rPr>
              <a:t>va to‘g‘ri harakatlar majmuidir.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13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0E7C7B"/>
                </a:solidFill>
                <a:latin typeface="Segoe UI"/>
              </a:rPr>
              <a:t>4-MAVZU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Xavfsiz mehnat usullari deganda nimani tushunasiz?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Mehnat muhofazasi yo‘riqnomalarining qanday turlari bor?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294510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294510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29776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28694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Navbatdan tashqari yo‘riqnoma qachon o‘tkaziladi?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55724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55724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35897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48157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To‘g‘ri tashkil etilgan ish joyi qanday bo‘lishi kerak?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16938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169381"/>
            <a:ext cx="284537" cy="28453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20192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09371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Kompyuter laboratoriyasida qanday harakatlar qat’iyan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taqiqlanadi?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4-mavzu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14 /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0E7C7B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4-mavzu. Xavfsiz mehnat usullari va ularning asosiy talablari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