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14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24508F"/>
                </a:solidFill>
                <a:latin typeface="Georgi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Nazariy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4508F"/>
                </a:solidFill>
                <a:latin typeface="Segoe UI"/>
              </a:rPr>
              <a:t>MEHNAT MUHOFAZASI VA TEXNIKA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183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Jabrlanuvchiga birinchi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yordam ko‘rsatish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2898775"/>
            <a:ext cx="1097280" cy="5486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218815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60946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92074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8-MAVZU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Birinchi yordam ko‘rsatishning umumiy tamoyillari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54253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Jabrlanuvchining holatini baholash (hush, nafas, puls)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Tez yordam (103) chaqirish qoidalari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8-MAVZU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24508F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31661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O‘quvchilarga birinchi yordam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ko‘rsatishning umumiy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tamoyillari, jabrlanuvchi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holatini baholash va tez tibbiy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yordam xizmatini to‘g‘ri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chaqirish yuzasidan bilim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ko‘nikmalar berish.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2745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Birinchi yordam tamoyillarini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biladilar, jabrlanuvchi holatini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baholay oladilar va 103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xizmatiga to‘liq xabar bera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oladilar.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1-REJA · BIRINCHI YORDAM KO‘RSATISHNING UMUMIY TAMOYILLARI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Birinchi yordam tushunchasi va ahamiyati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8562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Birinchi yordam — baxtsiz hodisa yoki to‘satdan kasallanib qolgan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shaxsga malakali tibbiy yordam kelguniga qadar uning hayotini saqlab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qolish va asoratlarni kamaytirish uchun ko‘rsatiladigan shoshilinch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chora-tadbirlar.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1-REJA · BIRINCHI YORDAM KO‘RSATISHNING UMUMIY TAMOYILLARI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Birinchi yordamning asosiy tamoyillari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94931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Xavfsizlik: </a:t>
            </a:r>
            <a:r>
              <a:rPr sz="2600" b="0">
                <a:solidFill>
                  <a:srgbClr val="1B2A4A"/>
                </a:solidFill>
                <a:latin typeface="Segoe UI"/>
              </a:rPr>
              <a:t>yordam beruvchi avval o‘z xavfsizligini ta’minlaydi. Ikkinchi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jabrlanuvchi bo‘lib qolish hech kimga foyda bermaydi.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78654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636774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Tezkorlik: </a:t>
            </a:r>
            <a:r>
              <a:rPr sz="2600" b="0">
                <a:solidFill>
                  <a:srgbClr val="1B2A4A"/>
                </a:solidFill>
                <a:latin typeface="Segoe UI"/>
              </a:rPr>
              <a:t>vaqtni yo‘qotmaslik, lekin shoshqaloqlik qilmaslik.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5550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05734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«Zarar yetkazma»: </a:t>
            </a:r>
            <a:r>
              <a:rPr sz="2600" b="0">
                <a:solidFill>
                  <a:srgbClr val="1B2A4A"/>
                </a:solidFill>
                <a:latin typeface="Segoe UI"/>
              </a:rPr>
              <a:t>bilmagan, ishonch komil bo‘lmagan harakatni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qilmaslik.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347123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197350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Xotirjamlik: </a:t>
            </a:r>
            <a:r>
              <a:rPr sz="2600" b="0">
                <a:solidFill>
                  <a:srgbClr val="1B2A4A"/>
                </a:solidFill>
                <a:latin typeface="Segoe UI"/>
              </a:rPr>
              <a:t>jabrlanuvchini tinchlantirish, vahimani bartaraf etish.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1-REJA · BIRINCHI YORDAM KO‘RSATISHNING UMUMIY TAMOYILLARI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Birinchi yordam qutichasi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0053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Har bir laboratoriyada birinchi yordam qutichasi bo‘lishi shart va uning joyini har bir o‘quvchi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bilishi kerak.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501138"/>
          <a:ext cx="10728654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30219"/>
                <a:gridCol w="5498435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Vosita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Vazifasi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Steril bint va salfetkalar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Jarohatni yopish va bog‘lash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Bakteritsid plastir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Kichik jarohatlarni himoyalash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Antiseptik (xlorgeksidin, yod eritmasi)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Jarohat atrofini zararsizlantirish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Gemostatik jgut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Arterial qon ketishini to‘xtatish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Bir martalik qo‘lqoplar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Yordam beruvchini infeksiyadan himoyalash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2-REJA · JABRLANUVCHINING HOLATINI BAHOLASH (HUSH, NAFAS, PULS)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Harakatlar ketma-ketligi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841161" y="1763435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1645158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1">
                <a:solidFill>
                  <a:srgbClr val="1B2A4A"/>
                </a:solidFill>
                <a:latin typeface="Segoe UI"/>
              </a:rPr>
              <a:t>Xavfni baholash.: </a:t>
            </a:r>
            <a:r>
              <a:rPr sz="2200" b="0">
                <a:solidFill>
                  <a:srgbClr val="1B2A4A"/>
                </a:solidFill>
                <a:latin typeface="Segoe UI"/>
              </a:rPr>
              <a:t>Atrofga qarang: tok, olov, gaz, yiqilishi mumkin bo‘lgan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buyumlar bormi? Masalan, elektr toki bilan jarohatlanganda avval manbani uzing.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625003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06726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1">
                <a:solidFill>
                  <a:srgbClr val="1B2A4A"/>
                </a:solidFill>
                <a:latin typeface="Segoe UI"/>
              </a:rPr>
              <a:t>Hushini tekshirish.: </a:t>
            </a:r>
            <a:r>
              <a:rPr sz="2200" b="0">
                <a:solidFill>
                  <a:srgbClr val="1B2A4A"/>
                </a:solidFill>
                <a:latin typeface="Segoe UI"/>
              </a:rPr>
              <a:t>Jabrlanuvchining yelkasiga yengil tegib, baland ovozda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murojaat qiling: «Sizga nima bo‘ldi? Meni eshityapsizmi?»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486571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368294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1">
                <a:solidFill>
                  <a:srgbClr val="1B2A4A"/>
                </a:solidFill>
                <a:latin typeface="Segoe UI"/>
              </a:rPr>
              <a:t>Nafas yo‘lini ochish.: </a:t>
            </a:r>
            <a:r>
              <a:rPr sz="2200" b="0">
                <a:solidFill>
                  <a:srgbClr val="1B2A4A"/>
                </a:solidFill>
                <a:latin typeface="Segoe UI"/>
              </a:rPr>
              <a:t>Bir qo‘lni peshonaga qo‘yib, boshni orqaga engashtiring,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ikkinchi qo‘l barmoqlari bilan iyakni ko‘taring.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34813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229862"/>
            <a:ext cx="10729862" cy="7609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1">
                <a:solidFill>
                  <a:srgbClr val="1B2A4A"/>
                </a:solidFill>
                <a:latin typeface="Segoe UI"/>
              </a:rPr>
              <a:t>Nafasni tekshirish.: </a:t>
            </a:r>
            <a:r>
              <a:rPr sz="2200" b="0">
                <a:solidFill>
                  <a:srgbClr val="1B2A4A"/>
                </a:solidFill>
                <a:latin typeface="Segoe UI"/>
              </a:rPr>
              <a:t>10 soniya davomida «Ko‘r, eshit, his qil»: ko‘krak qafasi</a:t>
            </a:r>
            <a:br/>
            <a:r>
              <a:rPr sz="2200" b="0">
                <a:solidFill>
                  <a:srgbClr val="1B2A4A"/>
                </a:solidFill>
                <a:latin typeface="Segoe UI"/>
              </a:rPr>
              <a:t>harakatini ko‘ring, nafas tovushini eshiting, yuzingiz bilan havo oqimini his qiling.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209707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091430"/>
            <a:ext cx="10729862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16"/>
              </a:lnSpc>
            </a:pPr>
            <a:r>
              <a:rPr sz="2200" b="1">
                <a:solidFill>
                  <a:srgbClr val="1B2A4A"/>
                </a:solidFill>
                <a:latin typeface="Segoe UI"/>
              </a:rPr>
              <a:t>Yordam chaqirish: </a:t>
            </a:r>
            <a:r>
              <a:rPr sz="2200" b="0">
                <a:solidFill>
                  <a:srgbClr val="1B2A4A"/>
                </a:solidFill>
                <a:latin typeface="Segoe UI"/>
              </a:rPr>
              <a:t>va holatga qarab yordam ko‘rsatish.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2-REJA · JABRLANUVCHINING HOLATINI BAHOLASH (HUSH, NAFAS, PULS)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Holatga qarab yordam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731520" y="1645158"/>
          <a:ext cx="10728654" cy="2422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9305"/>
                <a:gridCol w="7109349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Jabrlanuvchi holati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Birinchi yordam</a:t>
                      </a:r>
                    </a:p>
                  </a:txBody>
                  <a:tcPr marL="109728" marR="109728" marT="73152" marB="73152">
                    <a:solidFill>
                      <a:srgbClr val="24508F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Hushida, kuchli qon ketmoqda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Qon ketishini to‘xtatish, 103 ni chaqirish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Hushsiz, nafas olmoqda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Xavfsiz yonbosh holatga keltirish, nafasni kuzatish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Hushsiz, nafas olmayapti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103 ni chaqirish, yurak-o‘pka reanimatsiyasini boshlash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Kuyish, jarohat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Sovutish, steril bog‘lam qo‘yish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2-REJA · JABRLANUVCHINING HOLATINI BAHOLASH (HUSH, NAFAS, PULS)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Puls tekshirish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Puls bilak (bosh barmoq tomonida) yoki bo‘yindagi uyqu arteriyasida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ikki-uch barmoq bilan tekshiriladi. Kattalarda tinch holatdagi puls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daqiqasiga 60–90 marta.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3-REJA · TEZ YORDAM (103) CHAQIRISH QOIDALARI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Tez tibbiy yordamni chaqirish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96469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937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103 yoki 112 raqamiga qo‘ng‘iroq qilganda xotirjam va aniq gapirish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kerak: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88763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73786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aniq manzil (tuman, ko‘cha, bino, qavat, xona) va mo‘ljal;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45659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306826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nima sodir bo‘lgani va qachon;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025559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387578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jabrlanganlar soni, yoshi va holati (hushida yoki yo‘q, nafas olyaptimi,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qon ketyaptimi);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5017175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867402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qanday yordam ko‘rsatilayotgani;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586135"/>
            <a:ext cx="109901" cy="109901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436362"/>
            <a:ext cx="10729862" cy="468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o‘z ismingiz va telefon raqamingiz.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11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3-REJA · TEZ YORDAM (103) CHAQIRISH QOIDALARI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Atrofdagilarni jalb qilish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51892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491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Hech qachon «kimdir qo‘ng‘iroq qilgandir» deb o‘ylamang.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12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8-MAVZU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131089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4936991" cy="294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4"/>
              </a:lnSpc>
            </a:pPr>
            <a:r>
              <a:rPr sz="1700" b="1">
                <a:solidFill>
                  <a:srgbClr val="1B2A4A"/>
                </a:solidFill>
                <a:latin typeface="Georgia"/>
              </a:rPr>
              <a:t>Birinchi yordam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149475"/>
            <a:ext cx="4936991" cy="7391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</a:pPr>
            <a:r>
              <a:rPr sz="1400" b="0">
                <a:solidFill>
                  <a:srgbClr val="3A4560"/>
                </a:solidFill>
                <a:latin typeface="Segoe UI"/>
              </a:rPr>
              <a:t>Baxtsiz hodisa yoki to‘satdan kasallanib qolgan shaxsga</a:t>
            </a:r>
            <a:br/>
            <a:r>
              <a:rPr sz="1400" b="0">
                <a:solidFill>
                  <a:srgbClr val="3A4560"/>
                </a:solidFill>
                <a:latin typeface="Segoe UI"/>
              </a:rPr>
              <a:t>malakali tibbiy yordam kelguniga qadar uning hayotini</a:t>
            </a:r>
            <a:br/>
            <a:r>
              <a:rPr sz="1400" b="0">
                <a:solidFill>
                  <a:srgbClr val="3A4560"/>
                </a:solidFill>
                <a:latin typeface="Segoe UI"/>
              </a:rPr>
              <a:t>saqlab qolish va asoratlarni…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5867" y="1645158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55867" y="1645158"/>
            <a:ext cx="73152" cy="131089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1809750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Tezkorlik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0187" y="2207895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Vaqtni yo‘qotmaslik, lekin shoshqaloqlik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qilmaslik.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3184652"/>
            <a:ext cx="73152" cy="131089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3349244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Xavfsizlik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3747389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Yordam beruvchi avval o‘z xavfsizligini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ta’minlaydi.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55867" y="3184652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55867" y="3184652"/>
            <a:ext cx="73152" cy="131089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30187" y="3349244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Xotirjamlik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30187" y="3747389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Jabrlanuvchini tinchlantirish, vahimani bartaraf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etish.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1520" y="4724146"/>
            <a:ext cx="5204307" cy="1310894"/>
          </a:xfrm>
          <a:prstGeom prst="roundRect">
            <a:avLst>
              <a:gd name="adj" fmla="val 5580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1520" y="4724146"/>
            <a:ext cx="73152" cy="131089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" y="4888738"/>
            <a:ext cx="4936991" cy="352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15"/>
              </a:lnSpc>
            </a:pPr>
            <a:r>
              <a:rPr sz="2100" b="1">
                <a:solidFill>
                  <a:srgbClr val="1B2A4A"/>
                </a:solidFill>
                <a:latin typeface="Georgia"/>
              </a:rPr>
              <a:t>«Zarar yetkazma»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5286882"/>
            <a:ext cx="493699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0">
                <a:solidFill>
                  <a:srgbClr val="3A4560"/>
                </a:solidFill>
                <a:latin typeface="Segoe UI"/>
              </a:rPr>
              <a:t>Bilmagan, ishonch komil bo‘lmagan harakatni</a:t>
            </a:r>
            <a:br/>
            <a:r>
              <a:rPr sz="1800" b="0">
                <a:solidFill>
                  <a:srgbClr val="3A4560"/>
                </a:solidFill>
                <a:latin typeface="Segoe UI"/>
              </a:rPr>
              <a:t>qilmaslik.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13 /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24508F"/>
                </a:solidFill>
                <a:latin typeface="Segoe UI"/>
              </a:rPr>
              <a:t>8-MAVZU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Birinchi yordam nima va u nima uchun muhim?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Birinchi yordam ko‘rsatishda eng birinchi qadam nima bo‘lishi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kerak?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33743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337436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34069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32986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Jabrlanuvchining nafas olayotganini qanday tekshirish mumkin?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98650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98650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40190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910838"/>
            <a:ext cx="10206825" cy="904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103 xizmatiga qo‘ng‘iroq qilganda qanday ma’lumotlar berilishi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shart?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502790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5027901"/>
            <a:ext cx="284537" cy="28453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50604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9522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Birinchi yordam qutichasida nimalar bo‘lishi kerak?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Mehnat muhofazasi va texnika xavfsizligi · 8-mavzu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14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245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24508F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8-mavzu. Jabrlanuvchiga birinchi yordam ko‘rsatish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